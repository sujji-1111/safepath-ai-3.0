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93C5FD"/>
                </a:solidFill>
                <a:latin typeface="Arial"/>
              </a:defRPr>
            </a:pPr>
            <a:r>
              <a:rPr sz="1000" b="1" i="0" u="none" strike="noStrike">
                <a:solidFill>
                  <a:srgbClr val="93C5FD"/>
                </a:solidFill>
                <a:latin typeface="Arial"/>
              </a:rPr>
              <a:t>Priority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Emergency
Critical</c:v>
                  </c:pt>
                  <c:pt idx="1">
                    <c:v>High
Priority</c:v>
                  </c:pt>
                  <c:pt idx="2">
                    <c:v>Medium
Priority</c:v>
                  </c:pt>
                  <c:pt idx="3">
                    <c:v>Low
Priority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205</c:v>
                </c:pt>
                <c:pt idx="2">
                  <c:v>140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557784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09960" y="36576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0" y="117043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3252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09960" y="197510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2124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09960" y="2779776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252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2124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09960" y="3584448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4380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3252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2688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2124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1560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09960" y="4389120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944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4380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3816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3252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2688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2124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1560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09960" y="5193792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4944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4380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3816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3252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2688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92124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1560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109960" y="5998464"/>
            <a:ext cx="54864" cy="54864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75520" y="228600"/>
            <a:ext cx="2057400" cy="411480"/>
          </a:xfrm>
          <a:prstGeom prst="roundRect">
            <a:avLst>
              <a:gd name="adj" fmla="val 22222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75520" y="2286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· HACKATHON 2026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097280" y="1005840"/>
            <a:ext cx="1371600" cy="1371600"/>
          </a:xfrm>
          <a:prstGeom prst="ellipse">
            <a:avLst/>
          </a:prstGeom>
          <a:solidFill>
            <a:srgbClr val="1A56DB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25880"/>
            <a:ext cx="731520" cy="73152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320040" y="256032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AI</a:t>
            </a:r>
            <a:endParaRPr lang="en-US" sz="5200" dirty="0"/>
          </a:p>
        </p:txBody>
      </p:sp>
      <p:sp>
        <p:nvSpPr>
          <p:cNvPr id="74" name="Text 71"/>
          <p:cNvSpPr/>
          <p:nvPr/>
        </p:nvSpPr>
        <p:spPr>
          <a:xfrm>
            <a:off x="320040" y="356616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Urban Road Obstruction &amp;</a:t>
            </a:r>
            <a:endParaRPr lang="en-US" sz="1700" dirty="0"/>
          </a:p>
        </p:txBody>
      </p:sp>
      <p:sp>
        <p:nvSpPr>
          <p:cNvPr id="75" name="Text 72"/>
          <p:cNvSpPr/>
          <p:nvPr/>
        </p:nvSpPr>
        <p:spPr>
          <a:xfrm>
            <a:off x="320040" y="393192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Accessibility System</a:t>
            </a:r>
            <a:endParaRPr lang="en-US" sz="1700" dirty="0"/>
          </a:p>
        </p:txBody>
      </p:sp>
      <p:sp>
        <p:nvSpPr>
          <p:cNvPr id="76" name="Shape 73"/>
          <p:cNvSpPr/>
          <p:nvPr/>
        </p:nvSpPr>
        <p:spPr>
          <a:xfrm>
            <a:off x="320040" y="4434840"/>
            <a:ext cx="2560320" cy="347472"/>
          </a:xfrm>
          <a:prstGeom prst="roundRect">
            <a:avLst>
              <a:gd name="adj" fmla="val 31579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20040" y="4434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  RoadSoS – AI in Road Safety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6858000" y="2286000"/>
            <a:ext cx="640080" cy="2926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949440" y="24231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205472" y="242316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949440" y="283464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205472" y="283464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949440" y="32461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205472" y="32461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949440" y="36576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205472" y="365760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949440" y="406908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205472" y="406908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949440" y="44805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205472" y="448056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589520" y="2926080"/>
            <a:ext cx="822960" cy="228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680960" y="306324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936992" y="306324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680960" y="34747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936992" y="34747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7680960" y="38862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936992" y="38862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7680960" y="429768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936992" y="429768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680960" y="47091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936992" y="47091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503920" y="1554480"/>
            <a:ext cx="594360" cy="3657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595360" y="16916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51392" y="16916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595360" y="21031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8851392" y="21031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595360" y="25146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851392" y="25146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8595360" y="292608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8851392" y="292608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8595360" y="33375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8851392" y="33375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595360" y="37490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8851392" y="374904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8595360" y="41605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8851392" y="41605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8595360" y="45720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8851392" y="45720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235440" y="2651760"/>
            <a:ext cx="731520" cy="2560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9326880" y="27889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9582912" y="27889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9326880" y="320040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582912" y="320040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9326880" y="361188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9582912" y="361188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326880" y="40233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9582912" y="40233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9326880" y="443484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582912" y="443484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0058400" y="2011680"/>
            <a:ext cx="640080" cy="3200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10149840" y="21488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0405872" y="21488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0149840" y="25603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0405872" y="25603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10149840" y="297180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10405872" y="29718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0149840" y="338328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10405872" y="338328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10149840" y="37947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10405872" y="37947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10149840" y="42062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0405872" y="42062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149840" y="46177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0405872" y="46177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0835640" y="3200400"/>
            <a:ext cx="777240" cy="2011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0927080" y="33375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1183112" y="33375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10927080" y="37490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1183112" y="37490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10927080" y="41605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11183112" y="416052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10927080" y="457200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11183112" y="457200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11704320" y="2468880"/>
            <a:ext cx="457200" cy="2743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1795760" y="26060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2051792" y="26060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1795760" y="30175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2051792" y="301752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1795760" y="342900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2051792" y="342900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1795760" y="384048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12051792" y="384048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11795760" y="425196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12051792" y="4251960"/>
            <a:ext cx="137160" cy="20116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1795760" y="46634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12051792" y="4663440"/>
            <a:ext cx="137160" cy="201168"/>
          </a:xfrm>
          <a:prstGeom prst="rect">
            <a:avLst/>
          </a:prstGeom>
          <a:solidFill>
            <a:srgbClr val="0F20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6583680" y="5212080"/>
            <a:ext cx="557784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583680" y="5852160"/>
            <a:ext cx="5577840" cy="109728"/>
          </a:xfrm>
          <a:prstGeom prst="rect">
            <a:avLst/>
          </a:prstGeom>
          <a:solidFill>
            <a:srgbClr val="172A42"/>
          </a:solidFill>
          <a:ln w="12700">
            <a:solidFill>
              <a:srgbClr val="172A42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858000" y="6172200"/>
            <a:ext cx="411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7635240" y="6172200"/>
            <a:ext cx="411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8412480" y="6172200"/>
            <a:ext cx="411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9189720" y="6172200"/>
            <a:ext cx="411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9966960" y="6172200"/>
            <a:ext cx="411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10744200" y="6172200"/>
            <a:ext cx="411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1521440" y="6172200"/>
            <a:ext cx="411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949440" y="914400"/>
            <a:ext cx="219456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88720"/>
            <a:ext cx="411480" cy="411480"/>
          </a:xfrm>
          <a:prstGeom prst="rect">
            <a:avLst/>
          </a:prstGeom>
        </p:spPr>
      </p:pic>
      <p:sp>
        <p:nvSpPr>
          <p:cNvPr id="178" name="Text 174"/>
          <p:cNvSpPr/>
          <p:nvPr/>
        </p:nvSpPr>
        <p:spPr>
          <a:xfrm>
            <a:off x="7589520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2200" dirty="0"/>
          </a:p>
        </p:txBody>
      </p:sp>
      <p:sp>
        <p:nvSpPr>
          <p:cNvPr id="179" name="Text 175"/>
          <p:cNvSpPr/>
          <p:nvPr/>
        </p:nvSpPr>
        <p:spPr>
          <a:xfrm>
            <a:off x="7589520" y="1444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950" dirty="0"/>
          </a:p>
        </p:txBody>
      </p:sp>
      <p:sp>
        <p:nvSpPr>
          <p:cNvPr id="180" name="Shape 176"/>
          <p:cNvSpPr/>
          <p:nvPr/>
        </p:nvSpPr>
        <p:spPr>
          <a:xfrm>
            <a:off x="9326880" y="914400"/>
            <a:ext cx="219456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188720"/>
            <a:ext cx="411480" cy="411480"/>
          </a:xfrm>
          <a:prstGeom prst="rect">
            <a:avLst/>
          </a:prstGeom>
        </p:spPr>
      </p:pic>
      <p:sp>
        <p:nvSpPr>
          <p:cNvPr id="182" name="Text 177"/>
          <p:cNvSpPr/>
          <p:nvPr/>
        </p:nvSpPr>
        <p:spPr>
          <a:xfrm>
            <a:off x="9966960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200" dirty="0"/>
          </a:p>
        </p:txBody>
      </p:sp>
      <p:sp>
        <p:nvSpPr>
          <p:cNvPr id="183" name="Text 178"/>
          <p:cNvSpPr/>
          <p:nvPr/>
        </p:nvSpPr>
        <p:spPr>
          <a:xfrm>
            <a:off x="9966960" y="1444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Cases</a:t>
            </a:r>
            <a:endParaRPr lang="en-US" sz="950" dirty="0"/>
          </a:p>
        </p:txBody>
      </p:sp>
      <p:sp>
        <p:nvSpPr>
          <p:cNvPr id="184" name="Shape 179"/>
          <p:cNvSpPr/>
          <p:nvPr/>
        </p:nvSpPr>
        <p:spPr>
          <a:xfrm>
            <a:off x="6949440" y="2194560"/>
            <a:ext cx="219456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468880"/>
            <a:ext cx="411480" cy="411480"/>
          </a:xfrm>
          <a:prstGeom prst="rect">
            <a:avLst/>
          </a:prstGeom>
        </p:spPr>
      </p:pic>
      <p:sp>
        <p:nvSpPr>
          <p:cNvPr id="186" name="Text 180"/>
          <p:cNvSpPr/>
          <p:nvPr/>
        </p:nvSpPr>
        <p:spPr>
          <a:xfrm>
            <a:off x="758952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187" name="Text 181"/>
          <p:cNvSpPr/>
          <p:nvPr/>
        </p:nvSpPr>
        <p:spPr>
          <a:xfrm>
            <a:off x="7589520" y="27249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Analyzed</a:t>
            </a:r>
            <a:endParaRPr lang="en-US" sz="950" dirty="0"/>
          </a:p>
        </p:txBody>
      </p:sp>
      <p:sp>
        <p:nvSpPr>
          <p:cNvPr id="188" name="Shape 182"/>
          <p:cNvSpPr/>
          <p:nvPr/>
        </p:nvSpPr>
        <p:spPr>
          <a:xfrm>
            <a:off x="9326880" y="2194560"/>
            <a:ext cx="2194560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2468880"/>
            <a:ext cx="411480" cy="411480"/>
          </a:xfrm>
          <a:prstGeom prst="rect">
            <a:avLst/>
          </a:prstGeom>
        </p:spPr>
      </p:pic>
      <p:sp>
        <p:nvSpPr>
          <p:cNvPr id="190" name="Text 183"/>
          <p:cNvSpPr/>
          <p:nvPr/>
        </p:nvSpPr>
        <p:spPr>
          <a:xfrm>
            <a:off x="996696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191" name="Text 184"/>
          <p:cNvSpPr/>
          <p:nvPr/>
        </p:nvSpPr>
        <p:spPr>
          <a:xfrm>
            <a:off x="9966960" y="27249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Detected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1216152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789920" y="274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475488" cy="475488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0759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12252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Hospitals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6968" y="14538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struggle to locate nearby emergency facilities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2920" y="1700784"/>
            <a:ext cx="0" cy="384048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274320" y="2103120"/>
            <a:ext cx="475488" cy="47548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2219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6968" y="21396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Delays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86968" y="23682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obstructions block emergency vehicle routes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2615184"/>
            <a:ext cx="0" cy="384048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274320" y="3017520"/>
            <a:ext cx="475488" cy="475488"/>
          </a:xfrm>
          <a:prstGeom prst="ellipse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13639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6968" y="30540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Routing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86968" y="32826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system to route incidents to the right authority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3529584"/>
            <a:ext cx="0" cy="384048"/>
          </a:xfrm>
          <a:prstGeom prst="line">
            <a:avLst/>
          </a:prstGeom>
          <a:noFill/>
          <a:ln w="12700">
            <a:solidFill>
              <a:srgbClr val="1A56DB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274320" y="3931920"/>
            <a:ext cx="475488" cy="47548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40507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6968" y="39684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Obstruction Chaos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86968" y="41970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parking &amp; blockages slow response times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02920" y="4443984"/>
            <a:ext cx="0" cy="384048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274320" y="4846320"/>
            <a:ext cx="475488" cy="475488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4965192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86968" y="48828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Risk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886968" y="51114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access reduces survival rates in emergencies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Impact Statistics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858000" y="1645920"/>
            <a:ext cx="228600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858000" y="1645920"/>
            <a:ext cx="2286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858000" y="17830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3400" dirty="0"/>
          </a:p>
        </p:txBody>
      </p:sp>
      <p:sp>
        <p:nvSpPr>
          <p:cNvPr id="35" name="Text 27"/>
          <p:cNvSpPr/>
          <p:nvPr/>
        </p:nvSpPr>
        <p:spPr>
          <a:xfrm>
            <a:off x="694944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9326880" y="1645920"/>
            <a:ext cx="228600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9326880" y="1645920"/>
            <a:ext cx="2286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326880" y="17830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3400" dirty="0"/>
          </a:p>
        </p:txBody>
      </p:sp>
      <p:sp>
        <p:nvSpPr>
          <p:cNvPr id="39" name="Text 31"/>
          <p:cNvSpPr/>
          <p:nvPr/>
        </p:nvSpPr>
        <p:spPr>
          <a:xfrm>
            <a:off x="941832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Accessibility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858000" y="3154680"/>
            <a:ext cx="228600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858000" y="3154680"/>
            <a:ext cx="2286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858000" y="32918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400" dirty="0"/>
          </a:p>
        </p:txBody>
      </p:sp>
      <p:sp>
        <p:nvSpPr>
          <p:cNvPr id="43" name="Text 35"/>
          <p:cNvSpPr/>
          <p:nvPr/>
        </p:nvSpPr>
        <p:spPr>
          <a:xfrm>
            <a:off x="6949440" y="3977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Gaps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9326880" y="3154680"/>
            <a:ext cx="228600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9326880" y="3154680"/>
            <a:ext cx="2286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9326880" y="32918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3400" dirty="0"/>
          </a:p>
        </p:txBody>
      </p:sp>
      <p:sp>
        <p:nvSpPr>
          <p:cNvPr id="47" name="Text 39"/>
          <p:cNvSpPr/>
          <p:nvPr/>
        </p:nvSpPr>
        <p:spPr>
          <a:xfrm>
            <a:off x="9418320" y="3977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Risk Increase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6858000" y="4754880"/>
            <a:ext cx="493776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949440" y="4800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minute of delay in the golden hour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mortality risk by up to 20%"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SafePath AI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789920" y="256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8600" y="1097280"/>
            <a:ext cx="28346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46304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Detection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77240" y="15727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classification of road obstructions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337560" y="1097280"/>
            <a:ext cx="28346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4630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86200" y="1188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Severity Classification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886200" y="15727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priority engine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28600" y="2423160"/>
            <a:ext cx="28346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78892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Engine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777240" y="28986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Risk-weighted scoring per incident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3337560" y="2423160"/>
            <a:ext cx="28346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78892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862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Authority Routing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3886200" y="28986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Auto-routes to correct government body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228600" y="3749040"/>
            <a:ext cx="28346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411480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7724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Escalation Engine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777240" y="42245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alert for critical cases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3337560" y="3749040"/>
            <a:ext cx="28346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4114800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88620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Risk Monitoring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3886200" y="42245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detection &amp; heatmaps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228600" y="5074920"/>
            <a:ext cx="283464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" y="5440680"/>
            <a:ext cx="347472" cy="3474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77240" y="5166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Decision Support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777240" y="55504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for authorities</a:t>
            </a:r>
            <a:endParaRPr lang="en-US" sz="850" dirty="0"/>
          </a:p>
        </p:txBody>
      </p:sp>
      <p:sp>
        <p:nvSpPr>
          <p:cNvPr id="35" name="Text 25"/>
          <p:cNvSpPr/>
          <p:nvPr/>
        </p:nvSpPr>
        <p:spPr>
          <a:xfrm>
            <a:off x="64465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903720" y="1463040"/>
            <a:ext cx="475488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903720" y="1463040"/>
            <a:ext cx="109728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4888" y="1591056"/>
            <a:ext cx="310896" cy="31089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543800" y="1618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Incident Data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9281160" y="2029968"/>
            <a:ext cx="0" cy="210312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9720" y="2176272"/>
            <a:ext cx="201168" cy="128016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6903720" y="2258568"/>
            <a:ext cx="475488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6903720" y="2258568"/>
            <a:ext cx="10972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4888" y="2386584"/>
            <a:ext cx="310896" cy="310896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543800" y="2414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Analysis</a:t>
            </a:r>
            <a:endParaRPr lang="en-US" sz="1150" dirty="0"/>
          </a:p>
        </p:txBody>
      </p:sp>
      <p:sp>
        <p:nvSpPr>
          <p:cNvPr id="46" name="Shape 33"/>
          <p:cNvSpPr/>
          <p:nvPr/>
        </p:nvSpPr>
        <p:spPr>
          <a:xfrm>
            <a:off x="9281160" y="2825496"/>
            <a:ext cx="0" cy="21031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720" y="2971800"/>
            <a:ext cx="201168" cy="128016"/>
          </a:xfrm>
          <a:prstGeom prst="rect">
            <a:avLst/>
          </a:prstGeom>
        </p:spPr>
      </p:pic>
      <p:sp>
        <p:nvSpPr>
          <p:cNvPr id="48" name="Shape 34"/>
          <p:cNvSpPr/>
          <p:nvPr/>
        </p:nvSpPr>
        <p:spPr>
          <a:xfrm>
            <a:off x="6903720" y="3054096"/>
            <a:ext cx="475488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6903720" y="3054096"/>
            <a:ext cx="10972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4888" y="3182112"/>
            <a:ext cx="310896" cy="310896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543800" y="3209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Priority Classification</a:t>
            </a:r>
            <a:endParaRPr lang="en-US" sz="1150" dirty="0"/>
          </a:p>
        </p:txBody>
      </p:sp>
      <p:sp>
        <p:nvSpPr>
          <p:cNvPr id="52" name="Shape 37"/>
          <p:cNvSpPr/>
          <p:nvPr/>
        </p:nvSpPr>
        <p:spPr>
          <a:xfrm>
            <a:off x="9281160" y="3621024"/>
            <a:ext cx="0" cy="21031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9720" y="3767328"/>
            <a:ext cx="201168" cy="128016"/>
          </a:xfrm>
          <a:prstGeom prst="rect">
            <a:avLst/>
          </a:prstGeom>
        </p:spPr>
      </p:pic>
      <p:sp>
        <p:nvSpPr>
          <p:cNvPr id="54" name="Shape 38"/>
          <p:cNvSpPr/>
          <p:nvPr/>
        </p:nvSpPr>
        <p:spPr>
          <a:xfrm>
            <a:off x="6903720" y="3849624"/>
            <a:ext cx="475488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5" name="Shape 39"/>
          <p:cNvSpPr/>
          <p:nvPr/>
        </p:nvSpPr>
        <p:spPr>
          <a:xfrm>
            <a:off x="6903720" y="3849624"/>
            <a:ext cx="109728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888" y="3977640"/>
            <a:ext cx="310896" cy="310896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7543800" y="4005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Authority Routing</a:t>
            </a:r>
            <a:endParaRPr lang="en-US" sz="1150" dirty="0"/>
          </a:p>
        </p:txBody>
      </p:sp>
      <p:sp>
        <p:nvSpPr>
          <p:cNvPr id="58" name="Shape 41"/>
          <p:cNvSpPr/>
          <p:nvPr/>
        </p:nvSpPr>
        <p:spPr>
          <a:xfrm>
            <a:off x="9281160" y="4416552"/>
            <a:ext cx="0" cy="210312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720" y="4562856"/>
            <a:ext cx="201168" cy="128016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6903720" y="4645152"/>
            <a:ext cx="475488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6903720" y="4645152"/>
            <a:ext cx="109728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04888" y="4773168"/>
            <a:ext cx="310896" cy="310896"/>
          </a:xfrm>
          <a:prstGeom prst="rect">
            <a:avLst/>
          </a:prstGeom>
        </p:spPr>
      </p:pic>
      <p:sp>
        <p:nvSpPr>
          <p:cNvPr id="63" name="Text 44"/>
          <p:cNvSpPr/>
          <p:nvPr/>
        </p:nvSpPr>
        <p:spPr>
          <a:xfrm>
            <a:off x="7543800" y="4800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Emergency Escalation</a:t>
            </a:r>
            <a:endParaRPr lang="en-US" sz="1150" dirty="0"/>
          </a:p>
        </p:txBody>
      </p:sp>
      <p:sp>
        <p:nvSpPr>
          <p:cNvPr id="64" name="Shape 45"/>
          <p:cNvSpPr/>
          <p:nvPr/>
        </p:nvSpPr>
        <p:spPr>
          <a:xfrm>
            <a:off x="9281160" y="5212080"/>
            <a:ext cx="0" cy="210312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89720" y="5358384"/>
            <a:ext cx="201168" cy="128016"/>
          </a:xfrm>
          <a:prstGeom prst="rect">
            <a:avLst/>
          </a:prstGeom>
        </p:spPr>
      </p:pic>
      <p:sp>
        <p:nvSpPr>
          <p:cNvPr id="66" name="Shape 46"/>
          <p:cNvSpPr/>
          <p:nvPr/>
        </p:nvSpPr>
        <p:spPr>
          <a:xfrm>
            <a:off x="6903720" y="5440680"/>
            <a:ext cx="475488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Shape 47"/>
          <p:cNvSpPr/>
          <p:nvPr/>
        </p:nvSpPr>
        <p:spPr>
          <a:xfrm>
            <a:off x="6903720" y="5440680"/>
            <a:ext cx="1097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04888" y="5568696"/>
            <a:ext cx="310896" cy="310896"/>
          </a:xfrm>
          <a:prstGeom prst="rect">
            <a:avLst/>
          </a:prstGeom>
        </p:spPr>
      </p:pic>
      <p:sp>
        <p:nvSpPr>
          <p:cNvPr id="69" name="Text 48"/>
          <p:cNvSpPr/>
          <p:nvPr/>
        </p:nvSpPr>
        <p:spPr>
          <a:xfrm>
            <a:off x="7543800" y="5596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Dashboard Intelligence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AI Architecture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789920" y="228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8600" y="1005840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1005840"/>
            <a:ext cx="10972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3898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0972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Acquisition Layer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4400" y="14630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Dataset (500 records)  +  Vehicle QR Database (300 records)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217920" y="1005840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0" y="1005840"/>
            <a:ext cx="10972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38988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0972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Processing Layer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903720" y="14630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Missing Value Analysis · Feature Extraction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228600" y="2395728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28600" y="2395728"/>
            <a:ext cx="10972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77977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24871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 Layer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14400" y="2852928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Risk Index · Emergency Flag · Severity Score · Location Encoding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6217920" y="2395728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17920" y="2395728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779776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03720" y="24871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Decision Layer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903720" y="2852928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Engine · Rule-based Severity Classification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228600" y="3785616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228600" y="3785616"/>
            <a:ext cx="10972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169664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38770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 Layer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914400" y="4242816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 —  91.2% Accuracy  (Train: 375 · Test: 125)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6217920" y="3785616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217920" y="3785616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169664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03720" y="38770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Urban Intelligence Layer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903720" y="4242816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(4 zones) · Isolation Forest Anomaly Detection (24 flagged)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228600" y="5175504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228600" y="5175504"/>
            <a:ext cx="10972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5559552"/>
            <a:ext cx="365760" cy="36576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14400" y="52669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Governance Intelligence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914400" y="5632704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Routing · Escalation Engine · Anonymous QR Notification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6217920" y="5175504"/>
            <a:ext cx="566928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6217920" y="5175504"/>
            <a:ext cx="10972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088" y="5559552"/>
            <a:ext cx="365760" cy="36576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903720" y="52669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Dashboard &amp; Visualization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6903720" y="5632704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Heatmaps · Priority Charts · KPI Cards · Accessibility Trends</a:t>
            </a:r>
            <a:endParaRPr lang="en-US" sz="850" dirty="0"/>
          </a:p>
        </p:txBody>
      </p:sp>
      <p:sp>
        <p:nvSpPr>
          <p:cNvPr id="47" name="Shape 36"/>
          <p:cNvSpPr/>
          <p:nvPr/>
        </p:nvSpPr>
        <p:spPr>
          <a:xfrm>
            <a:off x="6080760" y="1005840"/>
            <a:ext cx="0" cy="566928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789920" y="256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" y="1097280"/>
            <a:ext cx="3657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572768"/>
            <a:ext cx="502920" cy="5029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691640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408" y="1188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Incident Detection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78408" y="1627632"/>
            <a:ext cx="2788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obstruction identification with 48.4% emergency-flagged cases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01168" y="2542032"/>
            <a:ext cx="3657600" cy="6400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78808" y="1097280"/>
            <a:ext cx="3657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1572768"/>
            <a:ext cx="502920" cy="502920"/>
          </a:xfrm>
          <a:prstGeom prst="ellipse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691640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56048" y="1188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Priority Classification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956048" y="1627632"/>
            <a:ext cx="2788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4-tier: Emergency Critical → High → Medium → Low with ML confidence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178808" y="2542032"/>
            <a:ext cx="3657600" cy="64008"/>
          </a:xfrm>
          <a:prstGeom prst="rect">
            <a:avLst/>
          </a:prstGeom>
          <a:solidFill>
            <a:srgbClr val="1A56DB">
              <a:alpha val="7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56448" y="1097280"/>
            <a:ext cx="3657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1040" y="1572768"/>
            <a:ext cx="502920" cy="50292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1691640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33688" y="11887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Authority Routing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933688" y="1627632"/>
            <a:ext cx="2788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Auto-assigns to TMMA, Emergency Medical, Disaster Response, or School Safety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156448" y="2542032"/>
            <a:ext cx="3657600" cy="640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01168" y="2834640"/>
            <a:ext cx="3657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310128"/>
            <a:ext cx="502920" cy="5029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429000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8408" y="29260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Risk Heatmaps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78408" y="3364992"/>
            <a:ext cx="2788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Entrance = risk index 111.0 · Accessibility matrix across 10 zones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201168" y="4279392"/>
            <a:ext cx="3657600" cy="640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178808" y="2834640"/>
            <a:ext cx="3657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343400" y="3310128"/>
            <a:ext cx="502920" cy="50292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3429000"/>
            <a:ext cx="338328" cy="3383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56048" y="29260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Escalation Engine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956048" y="3364992"/>
            <a:ext cx="2788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critical escalations triggered · Anonymous QR owner notifications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178808" y="4279392"/>
            <a:ext cx="3657600" cy="6400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156448" y="2834640"/>
            <a:ext cx="3657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321040" y="3310128"/>
            <a:ext cx="502920" cy="502920"/>
          </a:xfrm>
          <a:prstGeom prst="ellipse">
            <a:avLst/>
          </a:prstGeom>
          <a:solidFill>
            <a:srgbClr val="1A56DB">
              <a:alpha val="85000"/>
            </a:srgbClr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429000"/>
            <a:ext cx="338328" cy="33832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933688" y="29260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Governance Intelligence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8933688" y="3364992"/>
            <a:ext cx="2788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clusters + Isolation Forest anomaly detection (24 urban anomalies)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8156448" y="4279392"/>
            <a:ext cx="3657600" cy="64008"/>
          </a:xfrm>
          <a:prstGeom prst="rect">
            <a:avLst/>
          </a:prstGeom>
          <a:solidFill>
            <a:srgbClr val="1A56DB">
              <a:alpha val="7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201168" y="4572000"/>
            <a:ext cx="36576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365760" y="5047488"/>
            <a:ext cx="502920" cy="50292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" y="5166360"/>
            <a:ext cx="338328" cy="33832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78408" y="4663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Monitoring Dashboard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978408" y="5102352"/>
            <a:ext cx="2788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· Trend analysis · Cluster intelligence across 7 Indian cities</a:t>
            </a:r>
            <a:endParaRPr lang="en-US" sz="850" dirty="0"/>
          </a:p>
        </p:txBody>
      </p:sp>
      <p:sp>
        <p:nvSpPr>
          <p:cNvPr id="48" name="Shape 38"/>
          <p:cNvSpPr/>
          <p:nvPr/>
        </p:nvSpPr>
        <p:spPr>
          <a:xfrm>
            <a:off x="201168" y="6016752"/>
            <a:ext cx="3657600" cy="640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Business Impact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789920" y="256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2926080" cy="2926080"/>
          </a:xfrm>
          <a:prstGeom prst="ellipse">
            <a:avLst/>
          </a:prstGeom>
          <a:solidFill>
            <a:srgbClr val="0F2040"/>
          </a:solidFill>
          <a:ln w="76200">
            <a:solidFill>
              <a:srgbClr val="1A56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508760"/>
            <a:ext cx="2286000" cy="2286000"/>
          </a:xfrm>
          <a:prstGeom prst="ellipse">
            <a:avLst/>
          </a:prstGeom>
          <a:solidFill>
            <a:srgbClr val="0A1628"/>
          </a:solidFill>
          <a:ln w="508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828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Accuracy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288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375  ·  Test: 125  ·  Dataset: 500</a:t>
            </a:r>
            <a:endParaRPr lang="en-US" sz="8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74320" y="4389120"/>
          <a:ext cx="3657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4206240" y="1051560"/>
            <a:ext cx="3657600" cy="1554480"/>
          </a:xfrm>
          <a:prstGeom prst="rect">
            <a:avLst/>
          </a:prstGeom>
          <a:solidFill>
            <a:srgbClr val="0F204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1572768"/>
            <a:ext cx="475488" cy="47548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8249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19472" y="11247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919472" y="16184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Entrance identified 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accessibility risk (index 111.0)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8229600" y="1051560"/>
            <a:ext cx="3657600" cy="155448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66760" y="1572768"/>
            <a:ext cx="475488" cy="47548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6824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42832" y="11247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8942832" y="16184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Urban Anomalies detected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Isolation Forest ML engine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206240" y="2788920"/>
            <a:ext cx="3657600" cy="1554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343400" y="3310128"/>
            <a:ext cx="475488" cy="475488"/>
          </a:xfrm>
          <a:prstGeom prst="ellipse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41985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19472" y="2862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4919472" y="335584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Clusters identified by K-Means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0: 148 incidents dominant)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8229600" y="2788920"/>
            <a:ext cx="3657600" cy="1554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6760" y="3310128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41985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942832" y="2862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600" dirty="0"/>
          </a:p>
        </p:txBody>
      </p:sp>
      <p:sp>
        <p:nvSpPr>
          <p:cNvPr id="32" name="Text 24"/>
          <p:cNvSpPr/>
          <p:nvPr/>
        </p:nvSpPr>
        <p:spPr>
          <a:xfrm>
            <a:off x="8942832" y="335584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auto-classified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prioritization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206240" y="4526280"/>
            <a:ext cx="3657600" cy="1554480"/>
          </a:xfrm>
          <a:prstGeom prst="rect">
            <a:avLst/>
          </a:prstGeom>
          <a:solidFill>
            <a:srgbClr val="0F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343400" y="5047488"/>
            <a:ext cx="475488" cy="475488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5157216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919472" y="45994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600" dirty="0"/>
          </a:p>
        </p:txBody>
      </p:sp>
      <p:sp>
        <p:nvSpPr>
          <p:cNvPr id="37" name="Text 28"/>
          <p:cNvSpPr/>
          <p:nvPr/>
        </p:nvSpPr>
        <p:spPr>
          <a:xfrm>
            <a:off x="4919472" y="509320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escalations triggered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authority routes auto-assigned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8229600" y="4526280"/>
            <a:ext cx="3657600" cy="1554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8366760" y="5047488"/>
            <a:ext cx="475488" cy="475488"/>
          </a:xfrm>
          <a:prstGeom prst="ellipse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5157216"/>
            <a:ext cx="292608" cy="29260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942832" y="45994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600" dirty="0"/>
          </a:p>
        </p:txBody>
      </p:sp>
      <p:sp>
        <p:nvSpPr>
          <p:cNvPr id="42" name="Text 32"/>
          <p:cNvSpPr/>
          <p:nvPr/>
        </p:nvSpPr>
        <p:spPr>
          <a:xfrm>
            <a:off x="8942832" y="509320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vehicle records linked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anonymous notification engine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77190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9504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42816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6128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6096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79408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56064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09376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86032" y="182880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36192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12848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9504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42816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96128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2784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6096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02752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79408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56064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32720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09376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86032" y="896112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9536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36192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12848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89504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6160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42816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19472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96128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72784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49440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26096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02752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79408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56064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32720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09376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86032" y="1609344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9536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36192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12848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89504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0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42816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19472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96128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72784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49440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26096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02752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79408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56064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32720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009376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686032" y="2322576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2880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9536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536192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12848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89504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66160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42816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19472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96128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272784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949440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26096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02752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79408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56064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332720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009376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686032" y="3035808"/>
            <a:ext cx="45720" cy="457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2880" y="3840480"/>
            <a:ext cx="731520" cy="1645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05840" y="3108960"/>
            <a:ext cx="822960" cy="2377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920240" y="4114800"/>
            <a:ext cx="64008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51760" y="3474720"/>
            <a:ext cx="777240" cy="2011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20440" y="2743200"/>
            <a:ext cx="685800" cy="2743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297680" y="3749040"/>
            <a:ext cx="822960" cy="1737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12080" y="3200400"/>
            <a:ext cx="731520" cy="228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35040" y="4023360"/>
            <a:ext cx="640080" cy="1463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321040" y="3383280"/>
            <a:ext cx="731520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44000" y="2834640"/>
            <a:ext cx="685800" cy="2651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921240" y="3931920"/>
            <a:ext cx="777240" cy="1554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789920" y="3291840"/>
            <a:ext cx="685800" cy="2194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567160" y="4114800"/>
            <a:ext cx="59436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0" y="5486400"/>
            <a:ext cx="121615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576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37160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37744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38328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8912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39496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0080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1248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1832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42416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430000" y="6355080"/>
            <a:ext cx="548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457200"/>
            <a:ext cx="1463040" cy="1463040"/>
          </a:xfrm>
          <a:prstGeom prst="ellipse">
            <a:avLst/>
          </a:prstGeom>
          <a:solidFill>
            <a:srgbClr val="1A56DB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777240"/>
            <a:ext cx="822960" cy="822960"/>
          </a:xfrm>
          <a:prstGeom prst="rect">
            <a:avLst/>
          </a:prstGeom>
        </p:spPr>
      </p:pic>
      <p:sp>
        <p:nvSpPr>
          <p:cNvPr id="121" name="Text 118"/>
          <p:cNvSpPr/>
          <p:nvPr/>
        </p:nvSpPr>
        <p:spPr>
          <a:xfrm>
            <a:off x="1828800" y="196596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22" name="Text 119"/>
          <p:cNvSpPr/>
          <p:nvPr/>
        </p:nvSpPr>
        <p:spPr>
          <a:xfrm>
            <a:off x="1828800" y="283464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AI — Smarter Cities, Safer Roads</a:t>
            </a:r>
            <a:endParaRPr lang="en-US" sz="1600" dirty="0"/>
          </a:p>
        </p:txBody>
      </p:sp>
      <p:sp>
        <p:nvSpPr>
          <p:cNvPr id="123" name="Text 120"/>
          <p:cNvSpPr/>
          <p:nvPr/>
        </p:nvSpPr>
        <p:spPr>
          <a:xfrm>
            <a:off x="1828800" y="33375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By Sujji. S</a:t>
            </a:r>
            <a:endParaRPr lang="en-US" sz="1400" dirty="0"/>
          </a:p>
        </p:txBody>
      </p:sp>
      <p:sp>
        <p:nvSpPr>
          <p:cNvPr id="124" name="Shape 121"/>
          <p:cNvSpPr/>
          <p:nvPr/>
        </p:nvSpPr>
        <p:spPr>
          <a:xfrm>
            <a:off x="3703320" y="3794760"/>
            <a:ext cx="4754880" cy="141732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5" name="Shape 122"/>
          <p:cNvSpPr/>
          <p:nvPr/>
        </p:nvSpPr>
        <p:spPr>
          <a:xfrm>
            <a:off x="3703320" y="3794760"/>
            <a:ext cx="47548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005072"/>
            <a:ext cx="420624" cy="420624"/>
          </a:xfrm>
          <a:prstGeom prst="rect">
            <a:avLst/>
          </a:prstGeom>
        </p:spPr>
      </p:pic>
      <p:sp>
        <p:nvSpPr>
          <p:cNvPr id="127" name="Text 123"/>
          <p:cNvSpPr/>
          <p:nvPr/>
        </p:nvSpPr>
        <p:spPr>
          <a:xfrm>
            <a:off x="4480560" y="3867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300" dirty="0"/>
          </a:p>
        </p:txBody>
      </p:sp>
      <p:sp>
        <p:nvSpPr>
          <p:cNvPr id="128" name="Text 124"/>
          <p:cNvSpPr/>
          <p:nvPr/>
        </p:nvSpPr>
        <p:spPr>
          <a:xfrm>
            <a:off x="3931920" y="431596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claude.ai/public/artifacts/c749f3cf-5fe8-4899-a4fe-262170b96adb</a:t>
            </a:r>
            <a:endParaRPr lang="en-US" sz="850" dirty="0"/>
          </a:p>
        </p:txBody>
      </p:sp>
      <p:sp>
        <p:nvSpPr>
          <p:cNvPr id="129" name="Shape 125"/>
          <p:cNvSpPr/>
          <p:nvPr/>
        </p:nvSpPr>
        <p:spPr>
          <a:xfrm>
            <a:off x="3657600" y="4846320"/>
            <a:ext cx="4846320" cy="411480"/>
          </a:xfrm>
          <a:prstGeom prst="roundRect">
            <a:avLst>
              <a:gd name="adj" fmla="val 26667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3657600" y="4846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Road Safety Hackathon 2026  ·  RoadSoS – AI in Road Safety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2026-05-31T16:58:31Z</dcterms:created>
  <dcterms:modified xsi:type="dcterms:W3CDTF">2026-05-31T16:58:31Z</dcterms:modified>
</cp:coreProperties>
</file>